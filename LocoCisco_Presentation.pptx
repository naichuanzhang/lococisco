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0E8A8A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4663440"/>
            <a:ext cx="3474720" cy="3474720"/>
          </a:xfrm>
          <a:prstGeom prst="ellipse">
            <a:avLst/>
          </a:prstGeom>
          <a:solidFill>
            <a:srgbClr val="2F6FB0">
              <a:alpha val="1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9202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LOCAL-FIRST CONVERSATION INTELLIGENCE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8600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LocoCisco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4747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intelligence that stays where you need it</a:t>
            </a:r>
            <a:endParaRPr lang="en-US" sz="2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16052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the room, captures what matters, and controls what leaves — on your own hardware.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5029200"/>
            <a:ext cx="2743200" cy="0"/>
          </a:xfrm>
          <a:prstGeom prst="line">
            <a:avLst/>
          </a:prstGeom>
          <a:noFill/>
          <a:ln w="25400">
            <a:solidFill>
              <a:srgbClr val="0E8A8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51663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· Role · Date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ARE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2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257800" cy="1691640"/>
          </a:xfrm>
          <a:prstGeom prst="roundRect">
            <a:avLst>
              <a:gd name="adj" fmla="val 4865"/>
            </a:avLst>
          </a:prstGeom>
          <a:solidFill>
            <a:srgbClr val="F3F6FB"/>
          </a:solidFill>
          <a:ln w="12700">
            <a:solidFill>
              <a:srgbClr val="D7E0EC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8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01368"/>
            <a:ext cx="914400" cy="914400"/>
          </a:xfrm>
          <a:prstGeom prst="ellipse">
            <a:avLst/>
          </a:prstGeom>
          <a:solidFill>
            <a:srgbClr val="0E8A8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" y="2057400"/>
            <a:ext cx="402336" cy="40233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965960" y="1709928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2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965960" y="2112264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/ title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965960" y="2441448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inference &amp; edge systems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126480" y="1417320"/>
            <a:ext cx="5257800" cy="1691640"/>
          </a:xfrm>
          <a:prstGeom prst="roundRect">
            <a:avLst>
              <a:gd name="adj" fmla="val 4865"/>
            </a:avLst>
          </a:prstGeom>
          <a:solidFill>
            <a:srgbClr val="F3F6FB"/>
          </a:solidFill>
          <a:ln w="12700">
            <a:solidFill>
              <a:srgbClr val="D7E0EC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8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46520" y="1801368"/>
            <a:ext cx="914400" cy="914400"/>
          </a:xfrm>
          <a:prstGeom prst="ellipse">
            <a:avLst/>
          </a:prstGeom>
          <a:solidFill>
            <a:srgbClr val="2F6FB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2552" y="2057400"/>
            <a:ext cx="402336" cy="40233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543800" y="1709928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2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7543800" y="2112264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/ title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7543800" y="2441448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— speech &amp; perception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48640" y="3429000"/>
            <a:ext cx="5257800" cy="1691640"/>
          </a:xfrm>
          <a:prstGeom prst="roundRect">
            <a:avLst>
              <a:gd name="adj" fmla="val 4865"/>
            </a:avLst>
          </a:prstGeom>
          <a:solidFill>
            <a:srgbClr val="F3F6FB"/>
          </a:solidFill>
          <a:ln w="12700">
            <a:solidFill>
              <a:srgbClr val="D7E0EC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8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68680" y="3813048"/>
            <a:ext cx="914400" cy="914400"/>
          </a:xfrm>
          <a:prstGeom prst="ellipse">
            <a:avLst/>
          </a:prstGeom>
          <a:solidFill>
            <a:srgbClr val="6B52B5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" y="4069080"/>
            <a:ext cx="402336" cy="40233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965960" y="3721608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2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</a:t>
            </a:r>
            <a:endParaRPr lang="en-US" sz="2000" dirty="0"/>
          </a:p>
        </p:txBody>
      </p:sp>
      <p:sp>
        <p:nvSpPr>
          <p:cNvPr id="20" name="Text 15"/>
          <p:cNvSpPr txBox="1"/>
          <p:nvPr/>
        </p:nvSpPr>
        <p:spPr>
          <a:xfrm>
            <a:off x="1965960" y="4123944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/ title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1965960" y="4453128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deployment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6126480" y="3429000"/>
            <a:ext cx="5257800" cy="1691640"/>
          </a:xfrm>
          <a:prstGeom prst="roundRect">
            <a:avLst>
              <a:gd name="adj" fmla="val 4865"/>
            </a:avLst>
          </a:prstGeom>
          <a:solidFill>
            <a:srgbClr val="F3F6FB"/>
          </a:solidFill>
          <a:ln w="12700">
            <a:solidFill>
              <a:srgbClr val="D7E0EC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8">
                <a:alpha val="3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446520" y="3813048"/>
            <a:ext cx="914400" cy="914400"/>
          </a:xfrm>
          <a:prstGeom prst="ellipse">
            <a:avLst/>
          </a:prstGeom>
          <a:solidFill>
            <a:srgbClr val="E0892B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2552" y="4069080"/>
            <a:ext cx="402336" cy="402336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543800" y="3721608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2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</a:t>
            </a:r>
            <a:endParaRPr lang="en-US" sz="2000" dirty="0"/>
          </a:p>
        </p:txBody>
      </p:sp>
      <p:sp>
        <p:nvSpPr>
          <p:cNvPr id="26" name="Text 20"/>
          <p:cNvSpPr txBox="1"/>
          <p:nvPr/>
        </p:nvSpPr>
        <p:spPr>
          <a:xfrm>
            <a:off x="7543800" y="4123944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/ title</a:t>
            </a:r>
            <a:endParaRPr lang="en-US" sz="1400" dirty="0"/>
          </a:p>
        </p:txBody>
      </p:sp>
      <p:sp>
        <p:nvSpPr>
          <p:cNvPr id="27" name="Text 21"/>
          <p:cNvSpPr txBox="1"/>
          <p:nvPr/>
        </p:nvSpPr>
        <p:spPr>
          <a:xfrm>
            <a:off x="7543800" y="4453128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Security, privacy &amp; policy</a:t>
            </a:r>
            <a:endParaRPr lang="en-US" sz="1300" dirty="0"/>
          </a:p>
        </p:txBody>
      </p:sp>
      <p:sp>
        <p:nvSpPr>
          <p:cNvPr id="28" name="Text 22"/>
          <p:cNvSpPr txBox="1"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Credibility line — background, prior shipped work, and domain expertise (edge AI · hospitality · public sector · security).</a:t>
            </a:r>
            <a:endParaRPr lang="en-US" sz="1300" dirty="0"/>
          </a:p>
        </p:txBody>
      </p:sp>
      <p:sp>
        <p:nvSpPr>
          <p:cNvPr id="29" name="Text 23"/>
          <p:cNvSpPr txBox="1"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8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2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 happens out loud — and it’s sensitive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429000" cy="3108960"/>
          </a:xfrm>
          <a:prstGeom prst="roundRect">
            <a:avLst>
              <a:gd name="adj" fmla="val 2647"/>
            </a:avLst>
          </a:prstGeom>
          <a:solidFill>
            <a:srgbClr val="F3F6FB"/>
          </a:solidFill>
          <a:ln w="12700">
            <a:solidFill>
              <a:srgbClr val="D7E0EC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8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760220" y="2011680"/>
            <a:ext cx="1005840" cy="1005840"/>
          </a:xfrm>
          <a:prstGeom prst="ellipse">
            <a:avLst/>
          </a:prstGeom>
          <a:solidFill>
            <a:srgbClr val="E0892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41855" y="2293315"/>
            <a:ext cx="442570" cy="44257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320040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2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Sensitive by default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794760"/>
            <a:ext cx="2880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Names, payments, health, case files, evidence — cloud AI ships it off-site, where it can’t go.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343400" y="1645920"/>
            <a:ext cx="3429000" cy="3108960"/>
          </a:xfrm>
          <a:prstGeom prst="roundRect">
            <a:avLst>
              <a:gd name="adj" fmla="val 2647"/>
            </a:avLst>
          </a:prstGeom>
          <a:solidFill>
            <a:srgbClr val="F3F6FB"/>
          </a:solidFill>
          <a:ln w="12700">
            <a:solidFill>
              <a:srgbClr val="D7E0EC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8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554980" y="2011680"/>
            <a:ext cx="1005840" cy="1005840"/>
          </a:xfrm>
          <a:prstGeom prst="ellipse">
            <a:avLst/>
          </a:prstGeom>
          <a:solidFill>
            <a:srgbClr val="2F6FB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6615" y="2293315"/>
            <a:ext cx="442570" cy="44257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17720" y="320040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2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Language barriers everywhere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4617720" y="3794760"/>
            <a:ext cx="2880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Guests, residents and the public rarely speak one language; interpreters are slow and costly.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8138160" y="1645920"/>
            <a:ext cx="3429000" cy="3108960"/>
          </a:xfrm>
          <a:prstGeom prst="roundRect">
            <a:avLst>
              <a:gd name="adj" fmla="val 2647"/>
            </a:avLst>
          </a:prstGeom>
          <a:solidFill>
            <a:srgbClr val="F3F6FB"/>
          </a:solidFill>
          <a:ln w="12700">
            <a:solidFill>
              <a:srgbClr val="D7E0EC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8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349740" y="2011680"/>
            <a:ext cx="1005840" cy="1005840"/>
          </a:xfrm>
          <a:prstGeom prst="ellipse">
            <a:avLst/>
          </a:prstGeom>
          <a:solidFill>
            <a:srgbClr val="6B52B5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1375" y="2293315"/>
            <a:ext cx="442570" cy="44257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412480" y="320040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2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 gets captured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8412480" y="3794760"/>
            <a:ext cx="2880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Requests, promises and decisions live in people’s heads — no record, no follow-through.</a:t>
            </a:r>
            <a:endParaRPr lang="en-US" sz="135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A22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Front-line staff handle this dozens of times a day — with tools that either leak the data or don’t understand the room.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2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LocoCisco understands the room — locally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2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Listens without a wake word, understands multi-speaker conversation on local hardware, captures tasks and decisions, and controls exactly what leaves the room.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429000" cy="2834640"/>
          </a:xfrm>
          <a:prstGeom prst="roundRect">
            <a:avLst>
              <a:gd name="adj" fmla="val 2903"/>
            </a:avLst>
          </a:prstGeom>
          <a:solidFill>
            <a:srgbClr val="E6F2F2"/>
          </a:solidFill>
          <a:ln w="15875">
            <a:solidFill>
              <a:srgbClr val="0E8A8A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8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514600"/>
            <a:ext cx="914400" cy="914400"/>
          </a:xfrm>
          <a:prstGeom prst="ellipse">
            <a:avLst/>
          </a:prstGeom>
          <a:solidFill>
            <a:srgbClr val="0E8A8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" y="2770632"/>
            <a:ext cx="402336" cy="40233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68680" y="356616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&amp; private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4023360"/>
            <a:ext cx="27889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on-site; nothing leaves unless a deterministic policy allows it. Works fully offline.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343400" y="2148840"/>
            <a:ext cx="3429000" cy="2834640"/>
          </a:xfrm>
          <a:prstGeom prst="roundRect">
            <a:avLst>
              <a:gd name="adj" fmla="val 2903"/>
            </a:avLst>
          </a:prstGeom>
          <a:solidFill>
            <a:srgbClr val="F3F6FB"/>
          </a:solidFill>
          <a:ln w="12700">
            <a:solidFill>
              <a:srgbClr val="D7E0EC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8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2514600"/>
            <a:ext cx="914400" cy="914400"/>
          </a:xfrm>
          <a:prstGeom prst="ellipse">
            <a:avLst/>
          </a:prstGeom>
          <a:solidFill>
            <a:srgbClr val="2F6FB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472" y="2770632"/>
            <a:ext cx="402336" cy="40233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63440" y="356616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Multilingual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4663440" y="4023360"/>
            <a:ext cx="27889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Transcribes and translates on-site, so staff and customers understand each other.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8138160" y="2148840"/>
            <a:ext cx="3429000" cy="2834640"/>
          </a:xfrm>
          <a:prstGeom prst="roundRect">
            <a:avLst>
              <a:gd name="adj" fmla="val 2903"/>
            </a:avLst>
          </a:prstGeom>
          <a:solidFill>
            <a:srgbClr val="F3F6FB"/>
          </a:solidFill>
          <a:ln w="12700">
            <a:solidFill>
              <a:srgbClr val="D7E0EC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8">
                <a:alpha val="3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58200" y="2514600"/>
            <a:ext cx="914400" cy="914400"/>
          </a:xfrm>
          <a:prstGeom prst="ellipse">
            <a:avLst/>
          </a:prstGeom>
          <a:solidFill>
            <a:srgbClr val="6B52B5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4232" y="2770632"/>
            <a:ext cx="402336" cy="402336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458200" y="356616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Actionable record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8458200" y="4023360"/>
            <a:ext cx="27889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every interaction into attributed tasks, decisions and follow-ups.</a:t>
            </a:r>
            <a:endParaRPr lang="en-US" sz="1350" dirty="0"/>
          </a:p>
        </p:txBody>
      </p:sp>
      <p:sp>
        <p:nvSpPr>
          <p:cNvPr id="20" name="Text 15"/>
          <p:cNvSpPr txBox="1"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2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62940" y="2286000"/>
            <a:ext cx="1874520" cy="1737360"/>
          </a:xfrm>
          <a:prstGeom prst="roundRect">
            <a:avLst>
              <a:gd name="adj" fmla="val 4737"/>
            </a:avLst>
          </a:prstGeom>
          <a:solidFill>
            <a:srgbClr val="F3F6FB"/>
          </a:solidFill>
          <a:ln w="15875">
            <a:solidFill>
              <a:srgbClr val="0E8A8A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8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16152" y="2542032"/>
            <a:ext cx="768096" cy="768096"/>
          </a:xfrm>
          <a:prstGeom prst="ellipse">
            <a:avLst/>
          </a:prstGeom>
          <a:solidFill>
            <a:srgbClr val="0E8A8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1219" y="2757099"/>
            <a:ext cx="337962" cy="33796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62940" y="3310128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2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Capture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54380" y="3639312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 + camera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2537460" y="2286000"/>
            <a:ext cx="3657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903220" y="2286000"/>
            <a:ext cx="1874520" cy="1737360"/>
          </a:xfrm>
          <a:prstGeom prst="roundRect">
            <a:avLst>
              <a:gd name="adj" fmla="val 4737"/>
            </a:avLst>
          </a:prstGeom>
          <a:solidFill>
            <a:srgbClr val="F3F6FB"/>
          </a:solidFill>
          <a:ln w="15875">
            <a:solidFill>
              <a:srgbClr val="2F6FB0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8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56432" y="2542032"/>
            <a:ext cx="768096" cy="768096"/>
          </a:xfrm>
          <a:prstGeom prst="ellipse">
            <a:avLst/>
          </a:prstGeom>
          <a:solidFill>
            <a:srgbClr val="2F6FB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1499" y="2757099"/>
            <a:ext cx="337962" cy="33796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903220" y="3310128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2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2994660" y="3639312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+ who said what</a:t>
            </a:r>
            <a:endParaRPr lang="en-US" sz="1150" dirty="0"/>
          </a:p>
        </p:txBody>
      </p:sp>
      <p:sp>
        <p:nvSpPr>
          <p:cNvPr id="15" name="Text 11"/>
          <p:cNvSpPr txBox="1"/>
          <p:nvPr/>
        </p:nvSpPr>
        <p:spPr>
          <a:xfrm>
            <a:off x="4777740" y="2286000"/>
            <a:ext cx="3657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2"/>
          <p:cNvSpPr/>
          <p:nvPr/>
        </p:nvSpPr>
        <p:spPr>
          <a:xfrm>
            <a:off x="5143500" y="2286000"/>
            <a:ext cx="1874520" cy="1737360"/>
          </a:xfrm>
          <a:prstGeom prst="roundRect">
            <a:avLst>
              <a:gd name="adj" fmla="val 4737"/>
            </a:avLst>
          </a:prstGeom>
          <a:solidFill>
            <a:srgbClr val="F3F6FB"/>
          </a:solidFill>
          <a:ln w="15875">
            <a:solidFill>
              <a:srgbClr val="6B52B5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8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696712" y="2542032"/>
            <a:ext cx="768096" cy="768096"/>
          </a:xfrm>
          <a:prstGeom prst="ellipse">
            <a:avLst/>
          </a:prstGeom>
          <a:solidFill>
            <a:srgbClr val="6B52B5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1779" y="2757099"/>
            <a:ext cx="337962" cy="33796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143500" y="3310128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2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Decide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5234940" y="3639312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models</a:t>
            </a:r>
            <a:endParaRPr lang="en-US" sz="1150" dirty="0"/>
          </a:p>
        </p:txBody>
      </p:sp>
      <p:sp>
        <p:nvSpPr>
          <p:cNvPr id="21" name="Text 16"/>
          <p:cNvSpPr txBox="1"/>
          <p:nvPr/>
        </p:nvSpPr>
        <p:spPr>
          <a:xfrm>
            <a:off x="7018020" y="2286000"/>
            <a:ext cx="3657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17"/>
          <p:cNvSpPr/>
          <p:nvPr/>
        </p:nvSpPr>
        <p:spPr>
          <a:xfrm>
            <a:off x="7383780" y="2286000"/>
            <a:ext cx="1874520" cy="1737360"/>
          </a:xfrm>
          <a:prstGeom prst="roundRect">
            <a:avLst>
              <a:gd name="adj" fmla="val 4737"/>
            </a:avLst>
          </a:prstGeom>
          <a:solidFill>
            <a:srgbClr val="F3F6FB"/>
          </a:solidFill>
          <a:ln w="15875">
            <a:solidFill>
              <a:srgbClr val="E0892B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8">
                <a:alpha val="3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936992" y="2542032"/>
            <a:ext cx="768096" cy="768096"/>
          </a:xfrm>
          <a:prstGeom prst="ellipse">
            <a:avLst/>
          </a:prstGeom>
          <a:solidFill>
            <a:srgbClr val="E0892B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2059" y="2757099"/>
            <a:ext cx="337962" cy="337962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383780" y="3310128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2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Policy gate</a:t>
            </a:r>
            <a:endParaRPr lang="en-US" sz="1600" dirty="0"/>
          </a:p>
        </p:txBody>
      </p:sp>
      <p:sp>
        <p:nvSpPr>
          <p:cNvPr id="26" name="Text 20"/>
          <p:cNvSpPr txBox="1"/>
          <p:nvPr/>
        </p:nvSpPr>
        <p:spPr>
          <a:xfrm>
            <a:off x="7475220" y="3639312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may leave</a:t>
            </a:r>
            <a:endParaRPr lang="en-US" sz="1150" dirty="0"/>
          </a:p>
        </p:txBody>
      </p:sp>
      <p:sp>
        <p:nvSpPr>
          <p:cNvPr id="27" name="Text 21"/>
          <p:cNvSpPr txBox="1"/>
          <p:nvPr/>
        </p:nvSpPr>
        <p:spPr>
          <a:xfrm>
            <a:off x="9258300" y="2286000"/>
            <a:ext cx="3657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8" name="Shape 22"/>
          <p:cNvSpPr/>
          <p:nvPr/>
        </p:nvSpPr>
        <p:spPr>
          <a:xfrm>
            <a:off x="9624060" y="2286000"/>
            <a:ext cx="1874520" cy="1737360"/>
          </a:xfrm>
          <a:prstGeom prst="roundRect">
            <a:avLst>
              <a:gd name="adj" fmla="val 4737"/>
            </a:avLst>
          </a:prstGeom>
          <a:solidFill>
            <a:srgbClr val="F3F6FB"/>
          </a:solidFill>
          <a:ln w="15875">
            <a:solidFill>
              <a:srgbClr val="0B6E6E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8">
                <a:alpha val="35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10177272" y="2542032"/>
            <a:ext cx="768096" cy="768096"/>
          </a:xfrm>
          <a:prstGeom prst="ellipse">
            <a:avLst/>
          </a:prstGeom>
          <a:solidFill>
            <a:srgbClr val="0B6E6E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92339" y="2757099"/>
            <a:ext cx="337962" cy="337962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9624060" y="3310128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2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 &amp; record</a:t>
            </a:r>
            <a:endParaRPr lang="en-US" sz="1600" dirty="0"/>
          </a:p>
        </p:txBody>
      </p:sp>
      <p:sp>
        <p:nvSpPr>
          <p:cNvPr id="32" name="Text 25"/>
          <p:cNvSpPr txBox="1"/>
          <p:nvPr/>
        </p:nvSpPr>
        <p:spPr>
          <a:xfrm>
            <a:off x="9715500" y="3639312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· devices</a:t>
            </a:r>
            <a:endParaRPr lang="en-US" sz="1150" dirty="0"/>
          </a:p>
        </p:txBody>
      </p:sp>
      <p:sp>
        <p:nvSpPr>
          <p:cNvPr id="33" name="Shape 26"/>
          <p:cNvSpPr/>
          <p:nvPr/>
        </p:nvSpPr>
        <p:spPr>
          <a:xfrm>
            <a:off x="548640" y="4754880"/>
            <a:ext cx="11064240" cy="1097280"/>
          </a:xfrm>
          <a:prstGeom prst="roundRect">
            <a:avLst>
              <a:gd name="adj" fmla="val 7500"/>
            </a:avLst>
          </a:prstGeom>
          <a:solidFill>
            <a:srgbClr val="11182F"/>
          </a:solidFill>
          <a:ln/>
        </p:spPr>
      </p:sp>
      <p:sp>
        <p:nvSpPr>
          <p:cNvPr id="34" name="Text 27"/>
          <p:cNvSpPr txBox="1"/>
          <p:nvPr/>
        </p:nvSpPr>
        <p:spPr>
          <a:xfrm>
            <a:off x="868680" y="489204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deterministic policy gate runs before anything is posted or any device acts — no cloud round-trip for the content or the translation. Captions, decisions and recording keep working with no internet.</a:t>
            </a:r>
            <a:endParaRPr lang="en-US" sz="1400" dirty="0"/>
          </a:p>
        </p:txBody>
      </p:sp>
      <p:sp>
        <p:nvSpPr>
          <p:cNvPr id="35" name="Text 28"/>
          <p:cNvSpPr txBox="1"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2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Any counter where people serve people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429000" cy="1554480"/>
          </a:xfrm>
          <a:prstGeom prst="roundRect">
            <a:avLst>
              <a:gd name="adj" fmla="val 5294"/>
            </a:avLst>
          </a:prstGeom>
          <a:solidFill>
            <a:srgbClr val="F3F6FB"/>
          </a:solidFill>
          <a:ln w="12700">
            <a:solidFill>
              <a:srgbClr val="D7E0EC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8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5960"/>
            <a:ext cx="822960" cy="822960"/>
          </a:xfrm>
          <a:prstGeom prst="ellipse">
            <a:avLst/>
          </a:prstGeom>
          <a:solidFill>
            <a:srgbClr val="0E8A8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3389" y="2196389"/>
            <a:ext cx="362102" cy="36210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83080" y="192024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Hotels &amp; hospitality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783080" y="2441448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desk, concierge, guest services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43400" y="1600200"/>
            <a:ext cx="3429000" cy="1554480"/>
          </a:xfrm>
          <a:prstGeom prst="roundRect">
            <a:avLst>
              <a:gd name="adj" fmla="val 5294"/>
            </a:avLst>
          </a:prstGeom>
          <a:solidFill>
            <a:srgbClr val="F3F6FB"/>
          </a:solidFill>
          <a:ln w="12700">
            <a:solidFill>
              <a:srgbClr val="D7E0EC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8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17720" y="1965960"/>
            <a:ext cx="822960" cy="822960"/>
          </a:xfrm>
          <a:prstGeom prst="ellipse">
            <a:avLst/>
          </a:prstGeom>
          <a:solidFill>
            <a:srgbClr val="2F6FB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8149" y="2196389"/>
            <a:ext cx="362102" cy="36210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577840" y="192024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Restaurants &amp; food service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5577840" y="2441448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Orders, allergies, shift handoffs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138160" y="1600200"/>
            <a:ext cx="3429000" cy="1554480"/>
          </a:xfrm>
          <a:prstGeom prst="roundRect">
            <a:avLst>
              <a:gd name="adj" fmla="val 5294"/>
            </a:avLst>
          </a:prstGeom>
          <a:solidFill>
            <a:srgbClr val="F3F6FB"/>
          </a:solidFill>
          <a:ln w="12700">
            <a:solidFill>
              <a:srgbClr val="D7E0EC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8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12480" y="1965960"/>
            <a:ext cx="822960" cy="822960"/>
          </a:xfrm>
          <a:prstGeom prst="ellipse">
            <a:avLst/>
          </a:prstGeom>
          <a:solidFill>
            <a:srgbClr val="6B52B5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2909" y="2196389"/>
            <a:ext cx="362102" cy="36210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372600" y="192024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service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9372600" y="2441448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Banks, clinics, retail, utilities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2446020" y="3474720"/>
            <a:ext cx="3429000" cy="1554480"/>
          </a:xfrm>
          <a:prstGeom prst="roundRect">
            <a:avLst>
              <a:gd name="adj" fmla="val 5294"/>
            </a:avLst>
          </a:prstGeom>
          <a:solidFill>
            <a:srgbClr val="F3F6FB"/>
          </a:solidFill>
          <a:ln w="12700">
            <a:solidFill>
              <a:srgbClr val="D7E0EC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8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2720340" y="3840480"/>
            <a:ext cx="822960" cy="822960"/>
          </a:xfrm>
          <a:prstGeom prst="ellipse">
            <a:avLst/>
          </a:prstGeom>
          <a:solidFill>
            <a:srgbClr val="0B6E6E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0769" y="4070909"/>
            <a:ext cx="362102" cy="36210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3680460" y="379476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Government services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3680460" y="4315968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Permitting, benefits, city hall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6240780" y="3474720"/>
            <a:ext cx="3429000" cy="1554480"/>
          </a:xfrm>
          <a:prstGeom prst="roundRect">
            <a:avLst>
              <a:gd name="adj" fmla="val 5294"/>
            </a:avLst>
          </a:prstGeom>
          <a:solidFill>
            <a:srgbClr val="F3F6FB"/>
          </a:solidFill>
          <a:ln w="12700">
            <a:solidFill>
              <a:srgbClr val="D7E0EC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8">
                <a:alpha val="3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515100" y="3840480"/>
            <a:ext cx="822960" cy="822960"/>
          </a:xfrm>
          <a:prstGeom prst="ellipse">
            <a:avLst/>
          </a:prstGeom>
          <a:solidFill>
            <a:srgbClr val="E0892B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5529" y="4070909"/>
            <a:ext cx="362102" cy="36210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7475220" y="379476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Police &amp; field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7475220" y="4315968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Intake, interviews, in-vehicle</a:t>
            </a:r>
            <a:endParaRPr lang="en-US" sz="1250" dirty="0"/>
          </a:p>
        </p:txBody>
      </p:sp>
      <p:sp>
        <p:nvSpPr>
          <p:cNvPr id="29" name="Text 22"/>
          <p:cNvSpPr txBox="1"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A22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capability — serve people in their language, keep sensitive content on-site, and never lose the follow-up.</a:t>
            </a:r>
            <a:endParaRPr lang="en-US" sz="1400" dirty="0"/>
          </a:p>
        </p:txBody>
      </p:sp>
      <p:sp>
        <p:nvSpPr>
          <p:cNvPr id="30" name="Text 23"/>
          <p:cNvSpPr txBox="1"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2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edge server, many IoT clients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 flipH="1" flipV="1">
            <a:off x="2103120" y="1737360"/>
            <a:ext cx="3977640" cy="1897380"/>
          </a:xfrm>
          <a:prstGeom prst="line">
            <a:avLst/>
          </a:prstGeom>
          <a:noFill/>
          <a:ln w="25400">
            <a:solidFill>
              <a:srgbClr val="CFE0F2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 flipV="1">
            <a:off x="6080760" y="1737360"/>
            <a:ext cx="4023360" cy="1897380"/>
          </a:xfrm>
          <a:prstGeom prst="line">
            <a:avLst/>
          </a:prstGeom>
          <a:noFill/>
          <a:ln w="25400">
            <a:solidFill>
              <a:srgbClr val="CFE0F2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 flipH="1" flipV="1">
            <a:off x="1828800" y="3566160"/>
            <a:ext cx="4251960" cy="68580"/>
          </a:xfrm>
          <a:prstGeom prst="line">
            <a:avLst/>
          </a:prstGeom>
          <a:noFill/>
          <a:ln w="25400">
            <a:solidFill>
              <a:srgbClr val="CFE0F2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 flipV="1">
            <a:off x="6080760" y="3566160"/>
            <a:ext cx="4251960" cy="68580"/>
          </a:xfrm>
          <a:prstGeom prst="line">
            <a:avLst/>
          </a:prstGeom>
          <a:noFill/>
          <a:ln w="25400">
            <a:solidFill>
              <a:srgbClr val="CFE0F2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6080760" y="3634740"/>
            <a:ext cx="0" cy="1943100"/>
          </a:xfrm>
          <a:prstGeom prst="line">
            <a:avLst/>
          </a:prstGeom>
          <a:noFill/>
          <a:ln w="25400">
            <a:solidFill>
              <a:srgbClr val="CFE0F2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4526280" y="3017520"/>
            <a:ext cx="3108960" cy="1234440"/>
          </a:xfrm>
          <a:prstGeom prst="roundRect">
            <a:avLst>
              <a:gd name="adj" fmla="val 6667"/>
            </a:avLst>
          </a:prstGeom>
          <a:solidFill>
            <a:srgbClr val="11182F"/>
          </a:solidFill>
          <a:ln/>
          <a:effectLst>
            <a:outerShdw sx="100000" sy="100000" kx="0" ky="0" algn="bl" rotWithShape="0" blurRad="88900" dist="25400" dir="5400000">
              <a:srgbClr val="9AA7B8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715000" y="3145536"/>
            <a:ext cx="566928" cy="566928"/>
          </a:xfrm>
          <a:prstGeom prst="ellipse">
            <a:avLst/>
          </a:prstGeom>
          <a:solidFill>
            <a:srgbClr val="0E8A8A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3740" y="3304276"/>
            <a:ext cx="249448" cy="249448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4526280" y="367588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Edge server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4526280" y="3968496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· policy · egress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731520" y="1371600"/>
            <a:ext cx="274320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19050">
            <a:solidFill>
              <a:srgbClr val="0E8A8A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8">
                <a:alpha val="3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932688" y="1636776"/>
            <a:ext cx="201168" cy="201168"/>
          </a:xfrm>
          <a:prstGeom prst="ellipse">
            <a:avLst/>
          </a:prstGeom>
          <a:solidFill>
            <a:srgbClr val="0E8A8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207008" y="1371600"/>
            <a:ext cx="21762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2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rooms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8686800" y="1371600"/>
            <a:ext cx="283464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19050">
            <a:solidFill>
              <a:srgbClr val="2F6FB0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8">
                <a:alpha val="3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887968" y="1636776"/>
            <a:ext cx="201168" cy="201168"/>
          </a:xfrm>
          <a:prstGeom prst="ellipse">
            <a:avLst/>
          </a:prstGeom>
          <a:solidFill>
            <a:srgbClr val="2F6FB0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9162288" y="1371600"/>
            <a:ext cx="22677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2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desk / concierge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548640" y="3200400"/>
            <a:ext cx="256032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19050">
            <a:solidFill>
              <a:srgbClr val="6B52B5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8">
                <a:alpha val="3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749808" y="3465576"/>
            <a:ext cx="201168" cy="201168"/>
          </a:xfrm>
          <a:prstGeom prst="ellipse">
            <a:avLst/>
          </a:prstGeom>
          <a:solidFill>
            <a:srgbClr val="6B52B5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1024128" y="3200400"/>
            <a:ext cx="19933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2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windows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9052560" y="3200400"/>
            <a:ext cx="256032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19050">
            <a:solidFill>
              <a:srgbClr val="0B6E6E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8">
                <a:alpha val="3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9253728" y="3465576"/>
            <a:ext cx="201168" cy="201168"/>
          </a:xfrm>
          <a:prstGeom prst="ellipse">
            <a:avLst/>
          </a:prstGeom>
          <a:solidFill>
            <a:srgbClr val="0B6E6E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9528048" y="3200400"/>
            <a:ext cx="19933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2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rooms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572000" y="5212080"/>
            <a:ext cx="301752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19050">
            <a:solidFill>
              <a:srgbClr val="E0892B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8">
                <a:alpha val="35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773168" y="5477256"/>
            <a:ext cx="201168" cy="201168"/>
          </a:xfrm>
          <a:prstGeom prst="ellipse">
            <a:avLst/>
          </a:prstGeom>
          <a:solidFill>
            <a:srgbClr val="E0892B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5047488" y="5212080"/>
            <a:ext cx="24505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2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MDT / kiosks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548640" y="61264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models run on the GB10-class edge server — one per site. Thin IoT clients just capture and present; adding a location is adding a client, not another AI deployment.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2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 on edge or cloud — your call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257800" cy="3246120"/>
          </a:xfrm>
          <a:prstGeom prst="roundRect">
            <a:avLst>
              <a:gd name="adj" fmla="val 2535"/>
            </a:avLst>
          </a:prstGeom>
          <a:solidFill>
            <a:srgbClr val="E6F2F2"/>
          </a:solidFill>
          <a:ln w="19050">
            <a:solidFill>
              <a:srgbClr val="0E8A8A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8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20240"/>
            <a:ext cx="914400" cy="914400"/>
          </a:xfrm>
          <a:prstGeom prst="ellipse">
            <a:avLst/>
          </a:prstGeom>
          <a:solidFill>
            <a:srgbClr val="0E8A8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0432" y="2176272"/>
            <a:ext cx="402336" cy="40233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965960" y="1938528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8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Edge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1965960" y="2423160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2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when confidentiality is critical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960120" y="3154680"/>
            <a:ext cx="44805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2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stays on-site — nothing leaves by default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2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offline; immediate, local latency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2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Police, government, health &amp; financial data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126480" y="1554480"/>
            <a:ext cx="5257800" cy="3246120"/>
          </a:xfrm>
          <a:prstGeom prst="roundRect">
            <a:avLst>
              <a:gd name="adj" fmla="val 2535"/>
            </a:avLst>
          </a:prstGeom>
          <a:solidFill>
            <a:srgbClr val="E7F0FA"/>
          </a:solidFill>
          <a:ln w="19050">
            <a:solidFill>
              <a:srgbClr val="2F6FB0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8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92240" y="1920240"/>
            <a:ext cx="914400" cy="914400"/>
          </a:xfrm>
          <a:prstGeom prst="ellipse">
            <a:avLst/>
          </a:prstGeom>
          <a:solidFill>
            <a:srgbClr val="2F6FB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8272" y="2176272"/>
            <a:ext cx="402336" cy="40233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543800" y="1938528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6F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</a:t>
            </a:r>
            <a:endParaRPr lang="en-US" sz="2400" dirty="0"/>
          </a:p>
        </p:txBody>
      </p:sp>
      <p:sp>
        <p:nvSpPr>
          <p:cNvPr id="14" name="Text 10"/>
          <p:cNvSpPr txBox="1"/>
          <p:nvPr/>
        </p:nvSpPr>
        <p:spPr>
          <a:xfrm>
            <a:off x="7543800" y="2423160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2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Easiest for clients to use &amp; manage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6537960" y="3154680"/>
            <a:ext cx="44805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2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to install locally; central updates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2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onboarding, scales by provisioning an account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2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where content is less sensitive, connectivity reliable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548640" y="5074920"/>
            <a:ext cx="11064240" cy="1143000"/>
          </a:xfrm>
          <a:prstGeom prst="roundRect">
            <a:avLst>
              <a:gd name="adj" fmla="val 7200"/>
            </a:avLst>
          </a:prstGeom>
          <a:solidFill>
            <a:srgbClr val="11182F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868680" y="5166360"/>
            <a:ext cx="10424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product, your placement.  </a:t>
            </a:r>
            <a:pPr indent="0" marL="0">
              <a:buNone/>
            </a:pPr>
            <a:r>
              <a:rPr lang="en-US" sz="145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choice is configuration, not a rebuild — and hybrid (edge capture + cloud management) is the usual answer for multi-site customers.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2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 &amp; next step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05840" y="2148840"/>
            <a:ext cx="8641080" cy="0"/>
          </a:xfrm>
          <a:prstGeom prst="line">
            <a:avLst/>
          </a:prstGeom>
          <a:noFill/>
          <a:ln w="25400">
            <a:solidFill>
              <a:srgbClr val="CFE0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737360"/>
            <a:ext cx="822960" cy="822960"/>
          </a:xfrm>
          <a:prstGeom prst="ellipse">
            <a:avLst/>
          </a:prstGeom>
          <a:solidFill>
            <a:srgbClr val="0E8A8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7373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2606040" cy="1143000"/>
          </a:xfrm>
          <a:prstGeom prst="roundRect">
            <a:avLst>
              <a:gd name="adj" fmla="val 7200"/>
            </a:avLst>
          </a:prstGeom>
          <a:solidFill>
            <a:srgbClr val="F3F6FB"/>
          </a:solidFill>
          <a:ln w="12700">
            <a:solidFill>
              <a:srgbClr val="D7E0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92608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8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Proven pipeline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33756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meeting build, on real hardware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611880" y="1737360"/>
            <a:ext cx="822960" cy="822960"/>
          </a:xfrm>
          <a:prstGeom prst="ellipse">
            <a:avLst/>
          </a:prstGeom>
          <a:solidFill>
            <a:srgbClr val="2F6FB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11880" y="17373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3429000" y="2788920"/>
            <a:ext cx="2606040" cy="1143000"/>
          </a:xfrm>
          <a:prstGeom prst="roundRect">
            <a:avLst>
              <a:gd name="adj" fmla="val 7200"/>
            </a:avLst>
          </a:prstGeom>
          <a:solidFill>
            <a:srgbClr val="F3F6FB"/>
          </a:solidFill>
          <a:ln w="12700">
            <a:solidFill>
              <a:srgbClr val="D7E0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57600" y="292608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F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 profiles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0" y="333756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Per-vertical prompts &amp; policies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92240" y="1737360"/>
            <a:ext cx="822960" cy="822960"/>
          </a:xfrm>
          <a:prstGeom prst="ellipse">
            <a:avLst/>
          </a:prstGeom>
          <a:solidFill>
            <a:srgbClr val="6B52B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92240" y="17373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6309360" y="2788920"/>
            <a:ext cx="2606040" cy="1143000"/>
          </a:xfrm>
          <a:prstGeom prst="roundRect">
            <a:avLst>
              <a:gd name="adj" fmla="val 7200"/>
            </a:avLst>
          </a:prstGeom>
          <a:solidFill>
            <a:srgbClr val="F3F6FB"/>
          </a:solidFill>
          <a:ln w="12700">
            <a:solidFill>
              <a:srgbClr val="D7E0E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37960" y="292608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52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Field / vehicle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537960" y="333756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Ruggedized offline edge nodes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372600" y="1737360"/>
            <a:ext cx="822960" cy="822960"/>
          </a:xfrm>
          <a:prstGeom prst="ellipse">
            <a:avLst/>
          </a:prstGeom>
          <a:solidFill>
            <a:srgbClr val="E0892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372600" y="17373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22" name="Shape 20"/>
          <p:cNvSpPr/>
          <p:nvPr/>
        </p:nvSpPr>
        <p:spPr>
          <a:xfrm>
            <a:off x="9189720" y="2788920"/>
            <a:ext cx="2606040" cy="1143000"/>
          </a:xfrm>
          <a:prstGeom prst="roundRect">
            <a:avLst>
              <a:gd name="adj" fmla="val 7200"/>
            </a:avLst>
          </a:prstGeom>
          <a:solidFill>
            <a:srgbClr val="F3F6FB"/>
          </a:solidFill>
          <a:ln w="12700">
            <a:solidFill>
              <a:srgbClr val="D7E0E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418320" y="292608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8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Multi-site hybrid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9418320" y="333756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management &amp; reporting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4526280"/>
            <a:ext cx="11064240" cy="1417320"/>
          </a:xfrm>
          <a:prstGeom prst="roundRect">
            <a:avLst>
              <a:gd name="adj" fmla="val 5806"/>
            </a:avLst>
          </a:prstGeom>
          <a:solidFill>
            <a:srgbClr val="11182F"/>
          </a:solidFill>
          <a:ln/>
        </p:spPr>
      </p:sp>
      <p:sp>
        <p:nvSpPr>
          <p:cNvPr id="26" name="Shape 24"/>
          <p:cNvSpPr/>
          <p:nvPr/>
        </p:nvSpPr>
        <p:spPr>
          <a:xfrm>
            <a:off x="914400" y="4892040"/>
            <a:ext cx="685800" cy="685800"/>
          </a:xfrm>
          <a:prstGeom prst="ellipse">
            <a:avLst/>
          </a:prstGeom>
          <a:solidFill>
            <a:srgbClr val="0E8A8A"/>
          </a:solidFill>
          <a:ln/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" y="5084064"/>
            <a:ext cx="301752" cy="301752"/>
          </a:xfrm>
          <a:prstGeom prst="rect">
            <a:avLst/>
          </a:prstGeom>
        </p:spPr>
      </p:pic>
      <p:sp>
        <p:nvSpPr>
          <p:cNvPr id="28" name="Text 25"/>
          <p:cNvSpPr txBox="1"/>
          <p:nvPr/>
        </p:nvSpPr>
        <p:spPr>
          <a:xfrm>
            <a:off x="1828800" y="4663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1828800" y="498348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pilot site and one vertical — we stand up one edge server and a handful of clients, and measure on real hardware before scaling.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8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4023360"/>
            <a:ext cx="4754880" cy="4754880"/>
          </a:xfrm>
          <a:prstGeom prst="ellipse">
            <a:avLst/>
          </a:prstGeom>
          <a:solidFill>
            <a:srgbClr val="0E8A8A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188720"/>
            <a:ext cx="1097280" cy="1097280"/>
          </a:xfrm>
          <a:prstGeom prst="ellipse">
            <a:avLst/>
          </a:prstGeom>
          <a:solidFill>
            <a:srgbClr val="0E8A8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878" y="1495958"/>
            <a:ext cx="482803" cy="48280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4688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Let’s talk — pilot LocoCisco at your site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548640" y="3520440"/>
            <a:ext cx="457200" cy="457200"/>
          </a:xfrm>
          <a:prstGeom prst="ellipse">
            <a:avLst/>
          </a:prstGeom>
          <a:solidFill>
            <a:srgbClr val="1B2547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3648456"/>
            <a:ext cx="201168" cy="20116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234440" y="3520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contact — Name · Title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548640" y="4087368"/>
            <a:ext cx="457200" cy="457200"/>
          </a:xfrm>
          <a:prstGeom prst="ellipse">
            <a:avLst/>
          </a:prstGeom>
          <a:solidFill>
            <a:srgbClr val="1B2547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4215384"/>
            <a:ext cx="201168" cy="20116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34440" y="40873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email@company.com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548640" y="4654296"/>
            <a:ext cx="457200" cy="457200"/>
          </a:xfrm>
          <a:prstGeom prst="ellipse">
            <a:avLst/>
          </a:prstGeom>
          <a:solidFill>
            <a:srgbClr val="1B2547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" y="4782312"/>
            <a:ext cx="201168" cy="201168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234440" y="465429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(000) 000-0000</a:t>
            </a:r>
            <a:endParaRPr lang="en-US" sz="1600" dirty="0"/>
          </a:p>
        </p:txBody>
      </p:sp>
      <p:sp>
        <p:nvSpPr>
          <p:cNvPr id="15" name="Shape 9"/>
          <p:cNvSpPr/>
          <p:nvPr/>
        </p:nvSpPr>
        <p:spPr>
          <a:xfrm>
            <a:off x="548640" y="5221224"/>
            <a:ext cx="457200" cy="457200"/>
          </a:xfrm>
          <a:prstGeom prst="ellipse">
            <a:avLst/>
          </a:prstGeom>
          <a:solidFill>
            <a:srgbClr val="1B2547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" y="5349240"/>
            <a:ext cx="201168" cy="201168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234440" y="5221224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company.com · Team / location</a:t>
            </a:r>
            <a:endParaRPr lang="en-US" sz="1600" dirty="0"/>
          </a:p>
        </p:txBody>
      </p:sp>
      <p:sp>
        <p:nvSpPr>
          <p:cNvPr id="18" name="Shape 11"/>
          <p:cNvSpPr/>
          <p:nvPr/>
        </p:nvSpPr>
        <p:spPr>
          <a:xfrm>
            <a:off x="548640" y="5879592"/>
            <a:ext cx="2743200" cy="0"/>
          </a:xfrm>
          <a:prstGeom prst="line">
            <a:avLst/>
          </a:prstGeom>
          <a:noFill/>
          <a:ln w="25400">
            <a:solidFill>
              <a:srgbClr val="0E8A8A"/>
            </a:solidFill>
            <a:prstDash val="solid"/>
          </a:ln>
        </p:spPr>
      </p:sp>
      <p:sp>
        <p:nvSpPr>
          <p:cNvPr id="19" name="Text 12"/>
          <p:cNvSpPr txBox="1"/>
          <p:nvPr/>
        </p:nvSpPr>
        <p:spPr>
          <a:xfrm>
            <a:off x="548640" y="6016752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when confidentiality is critical. Cloud when ease of use wins.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LocoCisco</dc:title>
  <dc:subject>PptxGenJS Presentation</dc:subject>
  <dc:creator>LocoCisco</dc:creator>
  <cp:lastModifiedBy>LocoCisco</cp:lastModifiedBy>
  <cp:revision>1</cp:revision>
  <dcterms:created xsi:type="dcterms:W3CDTF">2026-10-25T20:30:38Z</dcterms:created>
  <dcterms:modified xsi:type="dcterms:W3CDTF">2026-10-25T20:30:38Z</dcterms:modified>
</cp:coreProperties>
</file>